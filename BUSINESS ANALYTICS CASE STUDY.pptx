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Montserrat Bold" charset="1" panose="00000800000000000000"/>
      <p:regular r:id="rId15"/>
    </p:embeddedFont>
    <p:embeddedFont>
      <p:font typeface="Open Sans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70864" y="3289014"/>
            <a:ext cx="12746271" cy="420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3"/>
              </a:lnSpc>
            </a:pPr>
            <a:r>
              <a:rPr lang="en-US" b="true" sz="1000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BUSINESS ANALYTICS CASE STUDY</a:t>
            </a:r>
          </a:p>
        </p:txBody>
      </p:sp>
      <p:sp>
        <p:nvSpPr>
          <p:cNvPr name="AutoShape 3" id="3"/>
          <p:cNvSpPr/>
          <p:nvPr/>
        </p:nvSpPr>
        <p:spPr>
          <a:xfrm>
            <a:off x="7558567" y="7922448"/>
            <a:ext cx="6989044" cy="0"/>
          </a:xfrm>
          <a:prstGeom prst="line">
            <a:avLst/>
          </a:prstGeom>
          <a:ln cap="flat" w="66675">
            <a:gradFill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254367" y="8594705"/>
            <a:ext cx="425077" cy="425077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429463" y="8593190"/>
            <a:ext cx="293547" cy="29354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712738" y="3062301"/>
            <a:ext cx="1137437" cy="113743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850174" y="4027160"/>
            <a:ext cx="349058" cy="349058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418546" y="8807243"/>
            <a:ext cx="1971124" cy="197112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425708" y="3374103"/>
            <a:ext cx="345156" cy="34515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744194" y="3269541"/>
            <a:ext cx="155786" cy="15578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722288" y="7877170"/>
            <a:ext cx="7886674" cy="413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b="true" sz="2454" spc="1389">
                <a:solidFill>
                  <a:srgbClr val="4EA4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OMODOLAPO OLADOKUN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67016" y="9873099"/>
            <a:ext cx="7886674" cy="413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b="true" sz="2454" spc="1389">
                <a:solidFill>
                  <a:srgbClr val="4EA4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MICROSOFT EXCEL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8206" y="1952148"/>
            <a:ext cx="8415794" cy="106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Business Problem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684564" y="9301438"/>
            <a:ext cx="1971124" cy="197112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3520219"/>
            <a:ext cx="13322729" cy="3103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862" indent="-318431" lvl="1">
              <a:lnSpc>
                <a:spcPts val="5014"/>
              </a:lnSpc>
              <a:buFont typeface="Arial"/>
              <a:buChar char="•"/>
            </a:pPr>
            <a:r>
              <a:rPr lang="en-US" sz="294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Customer Churn reduces recurring revenue amd profitability</a:t>
            </a:r>
          </a:p>
          <a:p>
            <a:pPr algn="l" marL="636862" indent="-318431" lvl="1">
              <a:lnSpc>
                <a:spcPts val="5014"/>
              </a:lnSpc>
              <a:buFont typeface="Arial"/>
              <a:buChar char="•"/>
            </a:pPr>
            <a:r>
              <a:rPr lang="en-US" sz="294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Why are customers leaving?</a:t>
            </a:r>
          </a:p>
          <a:p>
            <a:pPr algn="l" marL="636862" indent="-318431" lvl="1">
              <a:lnSpc>
                <a:spcPts val="5014"/>
              </a:lnSpc>
              <a:buFont typeface="Arial"/>
              <a:buChar char="•"/>
            </a:pPr>
            <a:r>
              <a:rPr lang="en-US" sz="294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Who is most likely to churn</a:t>
            </a:r>
          </a:p>
          <a:p>
            <a:pPr algn="l" marL="636862" indent="-318431" lvl="1">
              <a:lnSpc>
                <a:spcPts val="5014"/>
              </a:lnSpc>
              <a:buFont typeface="Arial"/>
              <a:buChar char="•"/>
            </a:pPr>
            <a:r>
              <a:rPr lang="en-US" sz="294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What business factors influence churn?</a:t>
            </a:r>
          </a:p>
          <a:p>
            <a:pPr algn="l" marL="636862" indent="-318431" lvl="1">
              <a:lnSpc>
                <a:spcPts val="5014"/>
              </a:lnSpc>
              <a:buFont typeface="Arial"/>
              <a:buChar char="•"/>
            </a:pPr>
            <a:r>
              <a:rPr lang="en-US" sz="2949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How can churn be reduced?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490180" y="2071380"/>
            <a:ext cx="223236" cy="22323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684564" y="8712272"/>
            <a:ext cx="1092056" cy="109205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8206" y="1952148"/>
            <a:ext cx="8415794" cy="106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684564" y="9301438"/>
            <a:ext cx="1971124" cy="197112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3863744"/>
            <a:ext cx="14339526" cy="3339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5467" indent="-342734" lvl="1">
              <a:lnSpc>
                <a:spcPts val="5397"/>
              </a:lnSpc>
              <a:buFont typeface="Arial"/>
              <a:buChar char="•"/>
            </a:pPr>
            <a:r>
              <a:rPr lang="en-US" sz="3174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Industry: Telecommunications</a:t>
            </a:r>
          </a:p>
          <a:p>
            <a:pPr algn="l" marL="685467" indent="-342734" lvl="1">
              <a:lnSpc>
                <a:spcPts val="5397"/>
              </a:lnSpc>
              <a:buFont typeface="Arial"/>
              <a:buChar char="•"/>
            </a:pPr>
            <a:r>
              <a:rPr lang="en-US" sz="3174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Rows: 7,043</a:t>
            </a:r>
          </a:p>
          <a:p>
            <a:pPr algn="l" marL="685467" indent="-342734" lvl="1">
              <a:lnSpc>
                <a:spcPts val="5397"/>
              </a:lnSpc>
              <a:buFont typeface="Arial"/>
              <a:buChar char="•"/>
            </a:pPr>
            <a:r>
              <a:rPr lang="en-US" sz="3174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Columns: 21</a:t>
            </a:r>
          </a:p>
          <a:p>
            <a:pPr algn="l" marL="685467" indent="-342734" lvl="1">
              <a:lnSpc>
                <a:spcPts val="5397"/>
              </a:lnSpc>
              <a:buFont typeface="Arial"/>
              <a:buChar char="•"/>
            </a:pPr>
            <a:r>
              <a:rPr lang="en-US" sz="3174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Target Variable: Churn</a:t>
            </a:r>
          </a:p>
          <a:p>
            <a:pPr algn="l" marL="685467" indent="-342734" lvl="1">
              <a:lnSpc>
                <a:spcPts val="5397"/>
              </a:lnSpc>
              <a:buFont typeface="Arial"/>
              <a:buChar char="•"/>
            </a:pPr>
            <a:r>
              <a:rPr lang="en-US" sz="3174">
                <a:solidFill>
                  <a:srgbClr val="FFFFFF">
                    <a:alpha val="80000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21 customer, service and billing variables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490180" y="2071380"/>
            <a:ext cx="223236" cy="22323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684564" y="8712272"/>
            <a:ext cx="1092056" cy="109205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96756"/>
            <a:ext cx="10039825" cy="106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684564" y="9301438"/>
            <a:ext cx="1971124" cy="197112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490180" y="2071380"/>
            <a:ext cx="223236" cy="22323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684564" y="8712272"/>
            <a:ext cx="1092056" cy="109205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433460" y="2071380"/>
            <a:ext cx="11433956" cy="7857196"/>
          </a:xfrm>
          <a:custGeom>
            <a:avLst/>
            <a:gdLst/>
            <a:ahLst/>
            <a:cxnLst/>
            <a:rect r="r" b="b" t="t" l="l"/>
            <a:pathLst>
              <a:path h="7857196" w="11433956">
                <a:moveTo>
                  <a:pt x="0" y="0"/>
                </a:moveTo>
                <a:lnTo>
                  <a:pt x="11433956" y="0"/>
                </a:lnTo>
                <a:lnTo>
                  <a:pt x="11433956" y="7857196"/>
                </a:lnTo>
                <a:lnTo>
                  <a:pt x="0" y="7857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25" r="-14145" b="-625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84564" y="9301438"/>
            <a:ext cx="1971124" cy="19711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490180" y="2071380"/>
            <a:ext cx="223236" cy="22323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684564" y="8712272"/>
            <a:ext cx="1092056" cy="109205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415482" y="1560644"/>
            <a:ext cx="12149395" cy="8480754"/>
          </a:xfrm>
          <a:custGeom>
            <a:avLst/>
            <a:gdLst/>
            <a:ahLst/>
            <a:cxnLst/>
            <a:rect r="r" b="b" t="t" l="l"/>
            <a:pathLst>
              <a:path h="8480754" w="12149395">
                <a:moveTo>
                  <a:pt x="0" y="0"/>
                </a:moveTo>
                <a:lnTo>
                  <a:pt x="12149395" y="0"/>
                </a:lnTo>
                <a:lnTo>
                  <a:pt x="12149395" y="8480754"/>
                </a:lnTo>
                <a:lnTo>
                  <a:pt x="0" y="8480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7295" y="0"/>
            <a:ext cx="13888072" cy="106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Customer Profile Dashboard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84564" y="9301438"/>
            <a:ext cx="1971124" cy="19711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490180" y="2071380"/>
            <a:ext cx="223236" cy="22323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684564" y="8712272"/>
            <a:ext cx="1092056" cy="109205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415482" y="1560644"/>
            <a:ext cx="12149395" cy="8480754"/>
          </a:xfrm>
          <a:custGeom>
            <a:avLst/>
            <a:gdLst/>
            <a:ahLst/>
            <a:cxnLst/>
            <a:rect r="r" b="b" t="t" l="l"/>
            <a:pathLst>
              <a:path h="8480754" w="12149395">
                <a:moveTo>
                  <a:pt x="0" y="0"/>
                </a:moveTo>
                <a:lnTo>
                  <a:pt x="12149395" y="0"/>
                </a:lnTo>
                <a:lnTo>
                  <a:pt x="12149395" y="8480754"/>
                </a:lnTo>
                <a:lnTo>
                  <a:pt x="0" y="8480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1" r="0" b="-661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7295" y="0"/>
            <a:ext cx="13888072" cy="106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Services Dashboard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84564" y="9301438"/>
            <a:ext cx="1971124" cy="19711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490180" y="2071380"/>
            <a:ext cx="223236" cy="22323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684564" y="8712272"/>
            <a:ext cx="1092056" cy="109205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415482" y="1560644"/>
            <a:ext cx="12149395" cy="8480754"/>
          </a:xfrm>
          <a:custGeom>
            <a:avLst/>
            <a:gdLst/>
            <a:ahLst/>
            <a:cxnLst/>
            <a:rect r="r" b="b" t="t" l="l"/>
            <a:pathLst>
              <a:path h="8480754" w="12149395">
                <a:moveTo>
                  <a:pt x="0" y="0"/>
                </a:moveTo>
                <a:lnTo>
                  <a:pt x="12149395" y="0"/>
                </a:lnTo>
                <a:lnTo>
                  <a:pt x="12149395" y="8480754"/>
                </a:lnTo>
                <a:lnTo>
                  <a:pt x="0" y="8480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5" t="0" r="-515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7295" y="0"/>
            <a:ext cx="13888072" cy="106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Billing Dashboard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84564" y="9301438"/>
            <a:ext cx="1971124" cy="19711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490180" y="2071380"/>
            <a:ext cx="223236" cy="22323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684564" y="8712272"/>
            <a:ext cx="1092056" cy="109205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774382" y="1560644"/>
            <a:ext cx="14739236" cy="8480754"/>
          </a:xfrm>
          <a:custGeom>
            <a:avLst/>
            <a:gdLst/>
            <a:ahLst/>
            <a:cxnLst/>
            <a:rect r="r" b="b" t="t" l="l"/>
            <a:pathLst>
              <a:path h="8480754" w="14739236">
                <a:moveTo>
                  <a:pt x="0" y="0"/>
                </a:moveTo>
                <a:lnTo>
                  <a:pt x="14739236" y="0"/>
                </a:lnTo>
                <a:lnTo>
                  <a:pt x="14739236" y="8480754"/>
                </a:lnTo>
                <a:lnTo>
                  <a:pt x="0" y="8480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34" r="-35" b="-734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7295" y="0"/>
            <a:ext cx="14841308" cy="106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Insights and Recommendations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30D33">
                <a:alpha val="100000"/>
              </a:srgbClr>
            </a:gs>
            <a:gs pos="100000">
              <a:srgbClr val="00353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84564" y="9301438"/>
            <a:ext cx="1971124" cy="19711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490180" y="2071380"/>
            <a:ext cx="223236" cy="22323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684564" y="8712272"/>
            <a:ext cx="1092056" cy="109205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EA46A">
                    <a:alpha val="100000"/>
                  </a:srgbClr>
                </a:gs>
                <a:gs pos="100000">
                  <a:srgbClr val="005C5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843256" y="4307212"/>
            <a:ext cx="14841308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77"/>
              </a:lnSpc>
            </a:pPr>
            <a:r>
              <a:rPr lang="en-US" sz="69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DAHRg8vy75w</dc:identifier>
  <dcterms:modified xsi:type="dcterms:W3CDTF">2011-08-01T06:04:30Z</dcterms:modified>
  <cp:revision>1</cp:revision>
  <dc:title>BUSINESS ANALYTICS CASE STUDY</dc:title>
</cp:coreProperties>
</file>